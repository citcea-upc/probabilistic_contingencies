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B9B9-A8A3-41DD-A5D8-E332BD3C4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D3B93-B9B7-474E-BFD5-34A84F416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903A5-444A-406C-9C08-AB5073634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9DB13-F7D4-4EA6-8F35-F9DCE258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E563-45E8-4E6A-85E8-2DE3B2ED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6581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A7B17-7BB4-4198-9449-A701694C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3D50-2943-4928-8358-16A6953AD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B3DE-04AF-4E9E-801D-C8DFB509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3E47A-CC8D-4ADC-A1D4-929554A0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661BC-A7DB-45B5-A5B9-708E1D0AD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1636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3B71-F60C-492A-8A67-DE9801C9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4A048-CE41-4285-8641-BE52998EC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82DA0-DC3E-48CD-92DC-739362D7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8935B-155E-41A8-9735-4AB829F2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1AAE5-7F1E-457E-8B41-738E5A26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78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A83B-AF5B-4D6C-8430-C2DEADD9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520B-542F-4F5B-8BB8-5A64B8A12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CDD5C-D612-4D0E-885B-65A6CD467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DB0BD-77DC-430E-9A28-BA400BBC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9E3F5-41BE-4413-A9DF-0F53FFA4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EBA70-4873-49B6-8272-AC78BB59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9739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EAD6-C3EB-4D7F-B60F-932C67864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B86DF-9484-47F7-8C3F-55377EEF3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0A51F-5964-427C-B47A-7B17A9BF9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CE307-4570-4C0D-A162-82EAE64E9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3F52A-91A6-4534-B6C9-B3E1E09DB7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75F18-02FE-4163-AB23-CEDCB5EC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F6D507-A10A-4B9C-BB55-C283BA95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09CEF-7CB2-4EAB-B0B4-017419A3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83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B176-9ED3-4271-AC44-EDA7C06F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8BDCE5-AF25-4A0D-AD16-0620D39F0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EAEFAA-7E83-4235-ADBA-10BCE45D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95379-BF32-48E9-84DA-5F4AF7010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696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593E4-84A8-40E4-9353-FEA96ADBF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0810C-7539-4C80-BDA3-15843161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DD6A0-B185-4369-B536-02E253DC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145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10FE-D12E-470D-A18F-300C86C5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50DCE-6993-4258-8E03-0D8B7644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51B54-2501-4C9E-8807-2529FBA59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4C38E-35F6-4016-960C-0AF763D3B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71117-CB66-41AC-95CC-03B72D060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34AFE-9F5F-4B36-B4AB-D05E7789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620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37BB-E94D-4391-94FF-DDC7EC751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ECA57-66C4-4FA9-9861-73DE75006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4C5BD-6529-4E88-BBEE-7583F6186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67D41-A591-4550-A501-0CD4746F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0341D-2BCA-4100-9270-852F738F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10E77-2136-445B-992F-176BC9D4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838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FB440-3A59-4A11-BA7D-15B9B43F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72F93-E9A7-485B-8A64-1E0FAABA2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6A809-186D-4488-A4B1-5C3061862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90595-4F2D-4A6F-B749-FA31CF6BA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E091F-63EE-426F-AAAB-AD90478A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59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FC2CE-8A36-4F9E-AE3B-06F2AB7E6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A1CB1-AA78-4809-89E7-895D30D1E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E5C4-4068-41DA-A21A-7C3AD62D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3A088-B8B7-44BE-AA59-0F025C63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4970-73B6-411B-81A6-018AF439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711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54C612-7B37-48DF-8AD6-50143E3B0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F06C-9279-410D-8453-9D877EF3A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F24E8-E759-4061-80D1-269ACBEA8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CDEAE-A5CA-43D4-B32E-37E1ACA56213}" type="datetimeFigureOut">
              <a:rPr lang="it-IT" smtClean="0"/>
              <a:t>08/02/2024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30E4D-9544-4809-8BF5-8ABAB0A4D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89B7D-5880-4041-9742-75BAE1A6F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E4E4F-A6DE-4347-AD9F-1399B707B1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657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828C1-7C9B-4BD2-AB54-B7031E579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906E-83D7-46E1-9798-07444FDEB8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842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55954-E7AC-46AC-BC3F-F5C28D259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965" y="1003766"/>
                <a:ext cx="12057529" cy="585423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it-IT" dirty="0"/>
                  <a:t>: set of unfesible generators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: set of unfesible generators at i-th iteration</a:t>
                </a:r>
              </a:p>
              <a:p>
                <a:endParaRPr lang="it-IT" dirty="0"/>
              </a:p>
              <a:p>
                <a:r>
                  <a:rPr lang="it-IT" dirty="0"/>
                  <a:t>Objective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nary>
                          <m:naryPr>
                            <m:chr m:val="∑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𝒢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func>
                              <m:func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func>
                                      <m:func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it-IT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</m:func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</m:e>
                    </m:func>
                  </m:oMath>
                </a14:m>
                <a:endParaRPr lang="it-IT" b="0" dirty="0"/>
              </a:p>
              <a:p>
                <a:endParaRPr lang="it-IT" b="0" dirty="0"/>
              </a:p>
              <a:p>
                <a:r>
                  <a:rPr lang="it-IT" dirty="0"/>
                  <a:t>(en el codigo: f = sum_diff)</a:t>
                </a:r>
                <a:endParaRPr lang="it-IT" b="0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55954-E7AC-46AC-BC3F-F5C28D259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965" y="1003766"/>
                <a:ext cx="12057529" cy="5854234"/>
              </a:xfrm>
              <a:blipFill>
                <a:blip r:embed="rId2"/>
                <a:stretch>
                  <a:fillRect l="-910" t="-17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97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55954-E7AC-46AC-BC3F-F5C28D2595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03766"/>
                <a:ext cx="12057529" cy="5854234"/>
              </a:xfrm>
            </p:spPr>
            <p:txBody>
              <a:bodyPr/>
              <a:lstStyle/>
              <a:p>
                <a:r>
                  <a:rPr lang="it-IT" dirty="0"/>
                  <a:t>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f>
                          <m:f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𝒢</m:t>
                                    </m:r>
                                  </m:e>
                                </m:d>
                              </m:sub>
                            </m:sSub>
                          </m:num>
                          <m:den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𝒢</m:t>
                                    </m:r>
                                  </m:e>
                                </m:d>
                              </m:sub>
                            </m:sSub>
                          </m:den>
                        </m:f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;∆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=∆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i="1"/>
                          <m:t>|</m:t>
                        </m:r>
                        <m:r>
                          <a:rPr lang="it-IT" i="1"/>
                          <m:t>𝒢</m:t>
                        </m:r>
                        <m:r>
                          <a:rPr lang="it-IT" i="1"/>
                          <m:t>|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</m:t>
                    </m:r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How to calculate the gradient at i-th iteration:</a:t>
                </a:r>
              </a:p>
              <a:p>
                <a:pPr marL="0" indent="0">
                  <a:buNone/>
                </a:pPr>
                <a:r>
                  <a:rPr lang="it-IT" dirty="0"/>
                  <a:t>for g in 1,...,</a:t>
                </a:r>
                <a:r>
                  <a:rPr lang="it-IT" sz="1800" b="0" kern="1200" dirty="0">
                    <a:solidFill>
                      <a:srgbClr val="000000"/>
                    </a:solidFill>
                    <a:effectLst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it-IT" sz="1800" b="0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  <m:r>
                      <a:rPr lang="it-IT" sz="1800" b="0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𝒢</m:t>
                    </m:r>
                    <m:r>
                      <a:rPr lang="it-IT" sz="1800" b="0" i="1" kern="12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  <a:cs typeface="+mn-cs"/>
                      </a:rPr>
                      <m:t>|</m:t>
                    </m:r>
                  </m:oMath>
                </a14:m>
                <a:r>
                  <a:rPr lang="it-IT" dirty="0"/>
                  <a:t>:</a:t>
                </a:r>
              </a:p>
              <a:p>
                <a:pPr marL="0" indent="0">
                  <a:buNone/>
                </a:pPr>
                <a:r>
                  <a:rPr lang="it-IT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/>
                      <m:t>∆</m:t>
                    </m:r>
                    <m:sSub>
                      <m:sSubPr>
                        <m:ctrlPr>
                          <a:rPr lang="it-IT" i="1"/>
                        </m:ctrlPr>
                      </m:sSubPr>
                      <m:e>
                        <m:r>
                          <a:rPr lang="it-IT" i="1"/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	calculate the power flow </a:t>
                </a:r>
                <a:r>
                  <a:rPr lang="it-IT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it-IT" dirty="0">
                    <a:sym typeface="Wingdings" panose="05000000000000000000" pitchFamily="2" charset="2"/>
                  </a:rPr>
                  <a:t>`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</m:func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it-IT" dirty="0">
                    <a:sym typeface="Wingdings" panose="05000000000000000000" pitchFamily="2" charset="2"/>
                  </a:rPr>
                  <a:t>, with g=1,...,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𝒢</m:t>
                    </m:r>
                  </m:oMath>
                </a14:m>
                <a:r>
                  <a:rPr lang="it-IT" dirty="0">
                    <a:sym typeface="Wingdings" panose="05000000000000000000" pitchFamily="2" charset="2"/>
                  </a:rPr>
                  <a:t>` </a:t>
                </a:r>
              </a:p>
              <a:p>
                <a:pPr marL="0" indent="0">
                  <a:buNone/>
                </a:pPr>
                <a:r>
                  <a:rPr lang="it-IT" dirty="0">
                    <a:sym typeface="Wingdings" panose="05000000000000000000" pitchFamily="2" charset="2"/>
                  </a:rPr>
                  <a:t>	calculate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nary>
                          <m:naryPr>
                            <m:chr m:val="∑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𝒢</m:t>
                                </m:r>
                              </m:e>
                              <m: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  <m:e>
                            <m:func>
                              <m:func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p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func>
                                      <m:funcPr>
                                        <m:ctrlP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it-IT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</m:func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</m:e>
                    </m:func>
                  </m:oMath>
                </a14:m>
                <a:endParaRPr lang="it-IT" b="0" dirty="0"/>
              </a:p>
              <a:p>
                <a:pPr marL="0" indent="0">
                  <a:buNone/>
                </a:pPr>
                <a:r>
                  <a:rPr lang="it-IT" dirty="0"/>
                  <a:t>	calculate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Sup>
                      <m:sSub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−1 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den>
                    </m:f>
                  </m:oMath>
                </a14:m>
                <a:endParaRPr lang="it-IT" b="0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/>
                  <a:t>En el codigo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Sup>
                      <m:sSub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it-IT" dirty="0"/>
                  <a:t> </a:t>
                </a:r>
                <a:r>
                  <a:rPr lang="it-IT"/>
                  <a:t>es J_f_pos</a:t>
                </a: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55954-E7AC-46AC-BC3F-F5C28D2595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03766"/>
                <a:ext cx="12057529" cy="5854234"/>
              </a:xfrm>
              <a:blipFill>
                <a:blip r:embed="rId2"/>
                <a:stretch>
                  <a:fillRect l="-10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8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5841</TotalTime>
  <Words>110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Francesca</dc:creator>
  <cp:lastModifiedBy>Francesca</cp:lastModifiedBy>
  <cp:revision>5</cp:revision>
  <dcterms:created xsi:type="dcterms:W3CDTF">2024-02-08T11:03:32Z</dcterms:created>
  <dcterms:modified xsi:type="dcterms:W3CDTF">2024-02-12T12:25:19Z</dcterms:modified>
</cp:coreProperties>
</file>